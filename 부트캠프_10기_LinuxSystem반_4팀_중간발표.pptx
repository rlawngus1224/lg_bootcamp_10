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6" r:id="rId5"/>
    <p:sldId id="260" r:id="rId6"/>
    <p:sldId id="261" r:id="rId7"/>
    <p:sldId id="265" r:id="rId8"/>
    <p:sldId id="268" r:id="rId9"/>
    <p:sldId id="269" r:id="rId10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940" autoAdjust="0"/>
  </p:normalViewPr>
  <p:slideViewPr>
    <p:cSldViewPr snapToGrid="0" snapToObjects="1">
      <p:cViewPr>
        <p:scale>
          <a:sx n="66" d="100"/>
          <a:sy n="66" d="100"/>
        </p:scale>
        <p:origin x="1164" y="-174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 </a:t>
            </a:r>
            <a:r>
              <a:rPr lang="en-US" altLang="ko-KR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10</a:t>
            </a:r>
            <a:r>
              <a:rPr lang="ko-KR" altLang="en-US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사용자 위치 기반 다중 </a:t>
            </a:r>
            <a:r>
              <a:rPr lang="ko-KR" altLang="en-US" sz="5400" b="1" dirty="0" err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음역대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5400" b="1" dirty="0" err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청감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시스템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Linux System </a:t>
            </a:r>
            <a:r>
              <a:rPr lang="ko-KR" altLang="en-US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반 </a:t>
            </a:r>
            <a:r>
              <a:rPr lang="en-US" altLang="ko-KR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김주현 정현오 홍민기 정지우</a:t>
            </a:r>
            <a:endParaRPr lang="ko-KR" altLang="en-US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</a:t>
            </a:r>
            <a:r>
              <a:rPr lang="ko-KR" altLang="en-US" sz="36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중간 발표</a:t>
            </a:r>
            <a:endParaRPr lang="ko-KR" altLang="en-US" sz="36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</a:t>
            </a:r>
            <a:endParaRPr lang="en-US" altLang="ko-KR" sz="4400" b="1" dirty="0" smtClean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</a:t>
            </a:r>
            <a:r>
              <a:rPr lang="ko-KR" altLang="en-US" sz="4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기술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1FEEFB25-5E90-4A6F-A74F-66C8D29C362B}"/>
              </a:ext>
            </a:extLst>
          </p:cNvPr>
          <p:cNvSpPr/>
          <p:nvPr/>
        </p:nvSpPr>
        <p:spPr>
          <a:xfrm>
            <a:off x="7546099" y="1563299"/>
            <a:ext cx="9551730" cy="68555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사용자의 청음 위치가 조금씩 달라지더라도 늘 동일한 경험을 제공받길 원하는 요구 사항 존재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err="1" smtClean="0">
                <a:solidFill>
                  <a:schemeClr val="tx1"/>
                </a:solidFill>
              </a:rPr>
              <a:t>음역대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 별로 </a:t>
            </a:r>
            <a:r>
              <a:rPr lang="ko-KR" altLang="en-US" sz="3200" b="1" dirty="0" err="1" smtClean="0">
                <a:solidFill>
                  <a:schemeClr val="tx1"/>
                </a:solidFill>
              </a:rPr>
              <a:t>우퍼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 혹은 </a:t>
            </a:r>
            <a:r>
              <a:rPr lang="ko-KR" altLang="en-US" sz="3200" b="1" dirty="0" err="1" smtClean="0">
                <a:solidFill>
                  <a:schemeClr val="tx1"/>
                </a:solidFill>
              </a:rPr>
              <a:t>트위터의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 강약을 조절하기 바라는 요구 사항 존재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→ </a:t>
            </a:r>
            <a:r>
              <a:rPr lang="ko-KR" altLang="en-US" sz="3200" b="1" smtClean="0">
                <a:solidFill>
                  <a:schemeClr val="tx1"/>
                </a:solidFill>
              </a:rPr>
              <a:t>사용자 위치에 따라 볼륨을 조절해주면서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3200" b="1" smtClean="0">
                <a:solidFill>
                  <a:schemeClr val="tx1"/>
                </a:solidFill>
              </a:rPr>
              <a:t>각 스피커 별로 분리된 음역대를 송출하는 시스템 구상</a:t>
            </a:r>
            <a:endParaRPr lang="en-US" altLang="ko-KR" sz="3200" b="1" dirty="0">
              <a:solidFill>
                <a:schemeClr val="tx1"/>
              </a:solidFill>
            </a:endParaRPr>
          </a:p>
        </p:txBody>
      </p:sp>
      <p:pic>
        <p:nvPicPr>
          <p:cNvPr id="2053" name="Picture 5" descr="Gener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32" y="2376471"/>
            <a:ext cx="6477454" cy="647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목표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EDE6F2A-5D0C-4460-93FA-B17FB04A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82" y="7066187"/>
            <a:ext cx="2429198" cy="242919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1D1E57B-3563-4D4E-A76E-54B778B7853F}"/>
              </a:ext>
            </a:extLst>
          </p:cNvPr>
          <p:cNvSpPr/>
          <p:nvPr/>
        </p:nvSpPr>
        <p:spPr>
          <a:xfrm>
            <a:off x="244861" y="1702732"/>
            <a:ext cx="13137309" cy="1366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b="1" dirty="0">
                <a:solidFill>
                  <a:schemeClr val="tx1"/>
                </a:solidFill>
              </a:rPr>
              <a:t>- </a:t>
            </a:r>
            <a:r>
              <a:rPr lang="ko-KR" altLang="en-US" sz="3200" b="1" smtClean="0">
                <a:solidFill>
                  <a:schemeClr val="tx1"/>
                </a:solidFill>
              </a:rPr>
              <a:t>음역대 별로 음원을 분리하여 스피커 송출 시스템 구현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064ED18F-C918-4D02-83AF-9DC70AC9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50" y="6230573"/>
            <a:ext cx="2091598" cy="1538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6BFE3E4C-3C81-4A79-B6FF-23CFA2D7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050" y="7112369"/>
            <a:ext cx="2429198" cy="242919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58E552B3-1F26-4127-B4D5-6E3034E7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01" y="7175060"/>
            <a:ext cx="2429198" cy="242919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064ED18F-C918-4D02-83AF-9DC70AC9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114" y="6296896"/>
            <a:ext cx="2091598" cy="153820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064ED18F-C918-4D02-83AF-9DC70AC9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525" y="6300528"/>
            <a:ext cx="2091598" cy="153820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58E552B3-1F26-4127-B4D5-6E3034E7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559" y="3108911"/>
            <a:ext cx="2429198" cy="24291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67299" y="2814317"/>
            <a:ext cx="10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Server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04163" y="9419592"/>
            <a:ext cx="10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Client 1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19525" y="9419592"/>
            <a:ext cx="10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Client 2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100389" y="9412336"/>
            <a:ext cx="10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Client 3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D0462006-2764-4243-8C83-5A93FAB74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982525">
            <a:off x="4568328" y="5051878"/>
            <a:ext cx="1715895" cy="136632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xmlns="" id="{D0462006-2764-4243-8C83-5A93FAB74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77066">
            <a:off x="9619461" y="5017682"/>
            <a:ext cx="1715895" cy="136632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xmlns="" id="{D0462006-2764-4243-8C83-5A93FAB74E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774"/>
          <a:stretch/>
        </p:blipFill>
        <p:spPr>
          <a:xfrm rot="5400000">
            <a:off x="7428649" y="5181384"/>
            <a:ext cx="890462" cy="13663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17530" y="5047745"/>
            <a:ext cx="1285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Low Freq</a:t>
            </a:r>
            <a:r>
              <a:rPr lang="en-US" altLang="ko-KR" dirty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.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34273" y="5563693"/>
            <a:ext cx="157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Mid Freq</a:t>
            </a:r>
            <a:r>
              <a:rPr lang="en-US" altLang="ko-KR" dirty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.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69745" y="5128551"/>
            <a:ext cx="1285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High Freq</a:t>
            </a:r>
            <a:r>
              <a:rPr lang="en-US" altLang="ko-KR" dirty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.</a:t>
            </a:r>
            <a:endParaRPr lang="ko-KR" altLang="en-US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439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목표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EDE6F2A-5D0C-4460-93FA-B17FB04A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983" y="2151687"/>
            <a:ext cx="2429198" cy="24291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ED236D9-3B61-4648-B921-B8DE40BC7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348" y="5965441"/>
            <a:ext cx="1991742" cy="19917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D0462006-2764-4243-8C83-5A93FAB74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74016">
            <a:off x="5187498" y="6818058"/>
            <a:ext cx="1715895" cy="13663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13753DA9-CF48-4A64-943A-6BDE029F6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166391" y="4375229"/>
            <a:ext cx="1024379" cy="136632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1D1E57B-3563-4D4E-A76E-54B778B7853F}"/>
              </a:ext>
            </a:extLst>
          </p:cNvPr>
          <p:cNvSpPr/>
          <p:nvPr/>
        </p:nvSpPr>
        <p:spPr>
          <a:xfrm>
            <a:off x="244862" y="1999963"/>
            <a:ext cx="7711412" cy="1366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b="1" dirty="0">
                <a:solidFill>
                  <a:schemeClr val="tx1"/>
                </a:solidFill>
              </a:rPr>
              <a:t>- </a:t>
            </a:r>
            <a:r>
              <a:rPr lang="ko-KR" altLang="en-US" sz="3200" b="1" dirty="0">
                <a:solidFill>
                  <a:schemeClr val="tx1"/>
                </a:solidFill>
              </a:rPr>
              <a:t>사용자 위치 기반을 통한 음량 조절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064ED18F-C918-4D02-83AF-9DC70AC9F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492" y="1313716"/>
            <a:ext cx="2091598" cy="1538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6BFE3E4C-3C81-4A79-B6FF-23CFA2D7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2626" y="6742584"/>
            <a:ext cx="2429198" cy="242919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58E552B3-1F26-4127-B4D5-6E3034E7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377" y="6742584"/>
            <a:ext cx="2429198" cy="242919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64C07A0D-0D9F-436D-84F7-2152EA198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0">
            <a:off x="10282099" y="6885757"/>
            <a:ext cx="1715895" cy="13663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EF362959-1144-4E99-95CD-3A7739D148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4835" y="6742583"/>
            <a:ext cx="783107" cy="78310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457D77C2-6151-4B9D-8D87-F5D2E80F4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831052" y="6850658"/>
            <a:ext cx="783107" cy="7831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3C1A76C6-B70A-4A7D-8257-64F43B3B7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235908" y="4313652"/>
            <a:ext cx="783107" cy="78310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064ED18F-C918-4D02-83AF-9DC70AC9F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190" y="5864420"/>
            <a:ext cx="2091598" cy="153820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064ED18F-C918-4D02-83AF-9DC70AC9F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7101" y="5930743"/>
            <a:ext cx="2091598" cy="153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4565447F-3172-4EA0-98DA-3BE9E3DB5827}"/>
              </a:ext>
            </a:extLst>
          </p:cNvPr>
          <p:cNvSpPr/>
          <p:nvPr/>
        </p:nvSpPr>
        <p:spPr>
          <a:xfrm>
            <a:off x="9839356" y="2187413"/>
            <a:ext cx="8715248" cy="68555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en-US" altLang="ko-KR" sz="3200" b="1" dirty="0" smtClean="0">
                <a:solidFill>
                  <a:schemeClr val="tx1"/>
                </a:solidFill>
              </a:rPr>
              <a:t>HC–SR04</a:t>
            </a: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err="1">
                <a:solidFill>
                  <a:schemeClr val="tx1"/>
                </a:solidFill>
              </a:rPr>
              <a:t>아두이노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 err="1">
                <a:solidFill>
                  <a:schemeClr val="tx1"/>
                </a:solidFill>
              </a:rPr>
              <a:t>라즈베리파이에서</a:t>
            </a:r>
            <a:r>
              <a:rPr lang="ko-KR" altLang="en-US" sz="3200" b="1" dirty="0">
                <a:solidFill>
                  <a:schemeClr val="tx1"/>
                </a:solidFill>
              </a:rPr>
              <a:t> 가장 많이 사용되는 거리 센서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측정 </a:t>
            </a:r>
            <a:r>
              <a:rPr lang="ko-KR" altLang="en-US" sz="3200" b="1" dirty="0">
                <a:solidFill>
                  <a:schemeClr val="tx1"/>
                </a:solidFill>
              </a:rPr>
              <a:t>가능 거리 </a:t>
            </a:r>
            <a:r>
              <a:rPr lang="en-US" altLang="ko-KR" sz="3200" b="1" dirty="0">
                <a:solidFill>
                  <a:schemeClr val="tx1"/>
                </a:solidFill>
              </a:rPr>
              <a:t>2CM ~ 400CM</a:t>
            </a: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사용자와의 </a:t>
            </a:r>
            <a:r>
              <a:rPr lang="ko-KR" altLang="en-US" sz="3200" b="1" dirty="0">
                <a:solidFill>
                  <a:schemeClr val="tx1"/>
                </a:solidFill>
              </a:rPr>
              <a:t>거리 측정에 활용 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예정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ko-KR" sz="3200" b="1" dirty="0" smtClean="0">
                <a:solidFill>
                  <a:schemeClr val="tx1"/>
                </a:solidFill>
              </a:rPr>
              <a:t>UART </a:t>
            </a:r>
            <a:r>
              <a:rPr lang="ko-KR" altLang="en-US" sz="3200" b="1" smtClean="0">
                <a:solidFill>
                  <a:schemeClr val="tx1"/>
                </a:solidFill>
              </a:rPr>
              <a:t>출력 형식이 아니기 때문에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, GPIO </a:t>
            </a:r>
            <a:r>
              <a:rPr lang="ko-KR" altLang="en-US" sz="3200" b="1" smtClean="0">
                <a:solidFill>
                  <a:schemeClr val="tx1"/>
                </a:solidFill>
              </a:rPr>
              <a:t>컨트롤 혹은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UART </a:t>
            </a:r>
            <a:r>
              <a:rPr lang="ko-KR" altLang="en-US" sz="3200" b="1" smtClean="0">
                <a:solidFill>
                  <a:schemeClr val="tx1"/>
                </a:solidFill>
              </a:rPr>
              <a:t>변환 필요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2" descr="How to attach a HC-SR04 ultrasonic sensor (5v) to a micro:bit -  teachCompu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62" y="2266024"/>
            <a:ext cx="9345220" cy="374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1D1E57B-3563-4D4E-A76E-54B778B7853F}"/>
              </a:ext>
            </a:extLst>
          </p:cNvPr>
          <p:cNvSpPr/>
          <p:nvPr/>
        </p:nvSpPr>
        <p:spPr>
          <a:xfrm>
            <a:off x="244862" y="1999963"/>
            <a:ext cx="7711412" cy="1366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AB836E2-E1BE-4E4D-B5EF-D363217C5BAA}"/>
              </a:ext>
            </a:extLst>
          </p:cNvPr>
          <p:cNvSpPr/>
          <p:nvPr/>
        </p:nvSpPr>
        <p:spPr>
          <a:xfrm>
            <a:off x="244862" y="1313119"/>
            <a:ext cx="9513999" cy="1143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초음파 센서 거리 감지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HC-SR04 with Levelshif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79" y="6274973"/>
            <a:ext cx="5162764" cy="33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560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8E24C1C-8639-4927-AA0F-DADB72D1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924788" y="3328039"/>
            <a:ext cx="6974056" cy="52305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4AFAA382-7388-476D-80FA-828747F06E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5" r="9615"/>
          <a:stretch/>
        </p:blipFill>
        <p:spPr>
          <a:xfrm>
            <a:off x="2134218" y="2456281"/>
            <a:ext cx="5230542" cy="697405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AB836E2-E1BE-4E4D-B5EF-D363217C5BAA}"/>
              </a:ext>
            </a:extLst>
          </p:cNvPr>
          <p:cNvSpPr/>
          <p:nvPr/>
        </p:nvSpPr>
        <p:spPr>
          <a:xfrm>
            <a:off x="244862" y="1313119"/>
            <a:ext cx="11990681" cy="1143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초음파 센서 거리 감지 및 </a:t>
            </a:r>
            <a:r>
              <a:rPr lang="en-US" altLang="ko-KR" sz="3200" b="1" dirty="0">
                <a:solidFill>
                  <a:schemeClr val="tx1"/>
                </a:solidFill>
              </a:rPr>
              <a:t>ALSA </a:t>
            </a:r>
            <a:r>
              <a:rPr lang="ko-KR" altLang="en-US" sz="3200" b="1">
                <a:solidFill>
                  <a:schemeClr val="tx1"/>
                </a:solidFill>
              </a:rPr>
              <a:t>드라이버를 통한 음량 제어</a:t>
            </a:r>
          </a:p>
          <a:p>
            <a:pPr marL="457200" indent="-457200">
              <a:buFontTx/>
              <a:buChar char="-"/>
            </a:pPr>
            <a:endParaRPr lang="ko-KR" altLang="en-US" sz="3200" b="1" dirty="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xmlns="" id="{C1F1E015-B723-4691-B5D8-7D2E87756064}"/>
              </a:ext>
            </a:extLst>
          </p:cNvPr>
          <p:cNvCxnSpPr>
            <a:cxnSpLocks/>
          </p:cNvCxnSpPr>
          <p:nvPr/>
        </p:nvCxnSpPr>
        <p:spPr>
          <a:xfrm>
            <a:off x="4507832" y="4459705"/>
            <a:ext cx="0" cy="1909011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DE95B722-10C3-4A98-A72D-8192CF419AD7}"/>
              </a:ext>
            </a:extLst>
          </p:cNvPr>
          <p:cNvCxnSpPr>
            <a:cxnSpLocks/>
          </p:cNvCxnSpPr>
          <p:nvPr/>
        </p:nvCxnSpPr>
        <p:spPr>
          <a:xfrm>
            <a:off x="10302469" y="5077326"/>
            <a:ext cx="0" cy="826169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367" y="3597969"/>
            <a:ext cx="4151246" cy="437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6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AB836E2-E1BE-4E4D-B5EF-D363217C5BAA}"/>
              </a:ext>
            </a:extLst>
          </p:cNvPr>
          <p:cNvSpPr/>
          <p:nvPr/>
        </p:nvSpPr>
        <p:spPr>
          <a:xfrm>
            <a:off x="244862" y="1313119"/>
            <a:ext cx="9513999" cy="1143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 err="1" smtClean="0">
                <a:solidFill>
                  <a:schemeClr val="tx1"/>
                </a:solidFill>
              </a:rPr>
              <a:t>음역대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 분리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4565447F-3172-4EA0-98DA-3BE9E3DB5827}"/>
              </a:ext>
            </a:extLst>
          </p:cNvPr>
          <p:cNvSpPr/>
          <p:nvPr/>
        </p:nvSpPr>
        <p:spPr>
          <a:xfrm>
            <a:off x="9308866" y="2226712"/>
            <a:ext cx="8715248" cy="68555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3200" b="1" dirty="0" err="1" smtClean="0">
                <a:solidFill>
                  <a:schemeClr val="tx1"/>
                </a:solidFill>
              </a:rPr>
              <a:t>음역대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 분리 프로그램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, </a:t>
            </a:r>
            <a:br>
              <a:rPr lang="en-US" altLang="ko-KR" sz="3200" b="1" dirty="0" smtClean="0">
                <a:solidFill>
                  <a:schemeClr val="tx1"/>
                </a:solidFill>
              </a:rPr>
            </a:br>
            <a:r>
              <a:rPr lang="en-US" altLang="ko-KR" sz="3200" b="1" dirty="0" smtClean="0">
                <a:solidFill>
                  <a:schemeClr val="tx1"/>
                </a:solidFill>
              </a:rPr>
              <a:t>4</a:t>
            </a:r>
            <a:r>
              <a:rPr lang="ko-KR" altLang="en-US" sz="3200" b="1" smtClean="0">
                <a:solidFill>
                  <a:schemeClr val="tx1"/>
                </a:solidFill>
              </a:rPr>
              <a:t>차 </a:t>
            </a:r>
            <a:r>
              <a:rPr lang="en-US" altLang="ko-KR" sz="3200" b="1" dirty="0" err="1" smtClean="0">
                <a:solidFill>
                  <a:schemeClr val="tx1"/>
                </a:solidFill>
              </a:rPr>
              <a:t>Linkwitz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–Riley </a:t>
            </a:r>
            <a:r>
              <a:rPr lang="ko-KR" altLang="en-US" sz="3200" b="1" smtClean="0">
                <a:solidFill>
                  <a:schemeClr val="tx1"/>
                </a:solidFill>
              </a:rPr>
              <a:t>필터 사용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주파수에 따른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dB </a:t>
            </a:r>
            <a:r>
              <a:rPr lang="ko-KR" altLang="en-US" sz="3200" b="1" smtClean="0">
                <a:solidFill>
                  <a:schemeClr val="tx1"/>
                </a:solidFill>
              </a:rPr>
              <a:t>증폭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/</a:t>
            </a:r>
            <a:r>
              <a:rPr lang="ko-KR" altLang="en-US" sz="3200" b="1" smtClean="0">
                <a:solidFill>
                  <a:schemeClr val="tx1"/>
                </a:solidFill>
              </a:rPr>
              <a:t>감쇠 효과 이용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중간 대역대의 경우 보간을 이용하여 추출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Mini Convertible: Cross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604" y="5272054"/>
            <a:ext cx="7217682" cy="270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데이터 노이즈 제거 수단 - PC Low-High Pass Filter : 코스테크(주)｜제어계측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852" y="2456282"/>
            <a:ext cx="4771491" cy="268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78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AB836E2-E1BE-4E4D-B5EF-D363217C5BAA}"/>
              </a:ext>
            </a:extLst>
          </p:cNvPr>
          <p:cNvSpPr/>
          <p:nvPr/>
        </p:nvSpPr>
        <p:spPr>
          <a:xfrm>
            <a:off x="244862" y="1313119"/>
            <a:ext cx="9513999" cy="1143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클라이언트 동기화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843456" y="4045805"/>
            <a:ext cx="2600015" cy="2522521"/>
            <a:chOff x="1285949" y="2736887"/>
            <a:chExt cx="1589685" cy="1281679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5949" y="2736887"/>
              <a:ext cx="1589685" cy="1210866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698840" y="3741567"/>
              <a:ext cx="7216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 smtClean="0">
                  <a:latin typeface="+mj-ea"/>
                  <a:ea typeface="+mj-ea"/>
                </a:rPr>
                <a:t>(Server)</a:t>
              </a:r>
              <a:endParaRPr lang="ko-KR" altLang="en-US" sz="1200" b="1">
                <a:latin typeface="+mj-ea"/>
                <a:ea typeface="+mj-ea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658051" y="6413894"/>
            <a:ext cx="2643385" cy="1001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 smtClean="0">
                <a:latin typeface="+mj-ea"/>
                <a:ea typeface="+mj-ea"/>
              </a:rPr>
              <a:t>Client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106393" y="6416243"/>
            <a:ext cx="2643385" cy="1001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 smtClean="0">
                <a:latin typeface="+mj-ea"/>
                <a:ea typeface="+mj-ea"/>
              </a:rPr>
              <a:t>Client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05921" y="4480110"/>
            <a:ext cx="14750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+mj-ea"/>
                <a:ea typeface="+mj-ea"/>
              </a:rPr>
              <a:t>Set IP </a:t>
            </a:r>
            <a:r>
              <a:rPr lang="en-US" altLang="ko-KR" sz="1000" dirty="0" err="1" smtClean="0">
                <a:latin typeface="+mj-ea"/>
                <a:ea typeface="+mj-ea"/>
              </a:rPr>
              <a:t>addr</a:t>
            </a:r>
            <a:r>
              <a:rPr lang="en-US" altLang="ko-KR" sz="1000" dirty="0" smtClean="0">
                <a:latin typeface="+mj-ea"/>
                <a:ea typeface="+mj-ea"/>
              </a:rPr>
              <a:t> / Port</a:t>
            </a:r>
          </a:p>
          <a:p>
            <a:pPr algn="ctr"/>
            <a:r>
              <a:rPr lang="en-US" altLang="ko-KR" sz="1000" dirty="0" smtClean="0">
                <a:latin typeface="+mj-ea"/>
                <a:ea typeface="+mj-ea"/>
              </a:rPr>
              <a:t>&amp;</a:t>
            </a:r>
          </a:p>
          <a:p>
            <a:pPr algn="ctr"/>
            <a:r>
              <a:rPr lang="en-US" altLang="ko-KR" sz="1000" dirty="0" smtClean="0">
                <a:latin typeface="+mj-ea"/>
                <a:ea typeface="+mj-ea"/>
              </a:rPr>
              <a:t>Wait for client request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2475966" y="5488995"/>
            <a:ext cx="1762233" cy="2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4173795" y="4386068"/>
            <a:ext cx="3449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435134" y="5183955"/>
            <a:ext cx="12987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smtClean="0">
                <a:latin typeface="+mj-ea"/>
                <a:ea typeface="+mj-ea"/>
              </a:rPr>
              <a:t>Request to connect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325565" y="4929603"/>
            <a:ext cx="3449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ko-KR" altLang="en-US" sz="1400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252105" y="5127765"/>
            <a:ext cx="870728" cy="638239"/>
          </a:xfrm>
          <a:prstGeom prst="roundRect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5210947" y="5128150"/>
            <a:ext cx="870728" cy="638239"/>
          </a:xfrm>
          <a:prstGeom prst="roundRect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46278" y="501479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solidFill>
                  <a:srgbClr val="008000"/>
                </a:solidFill>
                <a:latin typeface="+mj-ea"/>
                <a:ea typeface="+mj-ea"/>
              </a:rPr>
              <a:t>Thread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0703" y="501479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solidFill>
                  <a:srgbClr val="008000"/>
                </a:solidFill>
                <a:latin typeface="+mj-ea"/>
                <a:ea typeface="+mj-ea"/>
              </a:rPr>
              <a:t>Thread 2</a:t>
            </a:r>
          </a:p>
        </p:txBody>
      </p:sp>
      <p:cxnSp>
        <p:nvCxnSpPr>
          <p:cNvPr id="28" name="직선 화살표 연결선 27"/>
          <p:cNvCxnSpPr/>
          <p:nvPr/>
        </p:nvCxnSpPr>
        <p:spPr>
          <a:xfrm flipH="1" flipV="1">
            <a:off x="6078785" y="5482430"/>
            <a:ext cx="1634532" cy="65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4868" y="5183955"/>
            <a:ext cx="12987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smtClean="0">
                <a:latin typeface="+mj-ea"/>
                <a:ea typeface="+mj-ea"/>
              </a:rPr>
              <a:t>Request to connect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7426674" y="4929603"/>
            <a:ext cx="3449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ko-KR" altLang="en-US" sz="1400" dirty="0"/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6078785" y="5619302"/>
            <a:ext cx="169285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6432786" y="5585972"/>
            <a:ext cx="3449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ko-KR" alt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6566085" y="5614625"/>
            <a:ext cx="10919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smtClean="0">
                <a:latin typeface="+mj-ea"/>
                <a:ea typeface="+mj-ea"/>
              </a:rPr>
              <a:t>Synchronize</a:t>
            </a:r>
          </a:p>
          <a:p>
            <a:pPr algn="ctr"/>
            <a:r>
              <a:rPr lang="en-US" altLang="ko-KR" sz="1000">
                <a:latin typeface="+mj-ea"/>
              </a:rPr>
              <a:t>(measure delay)</a:t>
            </a:r>
          </a:p>
          <a:p>
            <a:pPr algn="ctr"/>
            <a:endParaRPr lang="en-US" altLang="ko-KR" sz="1000" smtClean="0">
              <a:latin typeface="+mj-ea"/>
              <a:ea typeface="+mj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2475966" y="5635380"/>
            <a:ext cx="17591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2748990" y="5614625"/>
            <a:ext cx="3449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ko-KR" alt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2882289" y="5643278"/>
            <a:ext cx="1091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+mj-ea"/>
                <a:ea typeface="+mj-ea"/>
              </a:rPr>
              <a:t>Synchronize</a:t>
            </a:r>
          </a:p>
          <a:p>
            <a:pPr algn="ctr"/>
            <a:r>
              <a:rPr lang="en-US" altLang="ko-KR" sz="1000" dirty="0" smtClean="0">
                <a:latin typeface="+mj-ea"/>
                <a:ea typeface="+mj-ea"/>
              </a:rPr>
              <a:t>(measure delay)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xmlns="" id="{58E552B3-1F26-4127-B4D5-6E3034E7F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" y="4117844"/>
            <a:ext cx="2429198" cy="242919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xmlns="" id="{58E552B3-1F26-4127-B4D5-6E3034E7F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763" y="4080459"/>
            <a:ext cx="2429198" cy="2429198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4565447F-3172-4EA0-98DA-3BE9E3DB5827}"/>
              </a:ext>
            </a:extLst>
          </p:cNvPr>
          <p:cNvSpPr/>
          <p:nvPr/>
        </p:nvSpPr>
        <p:spPr>
          <a:xfrm>
            <a:off x="10165209" y="2187413"/>
            <a:ext cx="8715248" cy="68555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타임 </a:t>
            </a:r>
            <a:r>
              <a:rPr lang="ko-KR" altLang="en-US" sz="3200" b="1" dirty="0" err="1" smtClean="0">
                <a:solidFill>
                  <a:schemeClr val="tx1"/>
                </a:solidFill>
              </a:rPr>
              <a:t>스탬핑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&amp; </a:t>
            </a:r>
            <a:r>
              <a:rPr lang="ko-KR" altLang="en-US" sz="3200" b="1" smtClean="0">
                <a:solidFill>
                  <a:schemeClr val="tx1"/>
                </a:solidFill>
              </a:rPr>
              <a:t>버퍼링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오디오 </a:t>
            </a:r>
            <a:r>
              <a:rPr lang="ko-KR" altLang="en-US" sz="3200" b="1" dirty="0" err="1">
                <a:solidFill>
                  <a:schemeClr val="tx1"/>
                </a:solidFill>
              </a:rPr>
              <a:t>청크마다</a:t>
            </a:r>
            <a:r>
              <a:rPr lang="ko-KR" altLang="en-US" sz="3200" b="1" dirty="0">
                <a:solidFill>
                  <a:schemeClr val="tx1"/>
                </a:solidFill>
              </a:rPr>
              <a:t> 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“</a:t>
            </a:r>
            <a:r>
              <a:rPr lang="ko-KR" altLang="en-US" sz="3200" b="1" dirty="0">
                <a:solidFill>
                  <a:schemeClr val="tx1"/>
                </a:solidFill>
              </a:rPr>
              <a:t>서버 로컬 시간” 기반 타임스탬프를 붙여 전송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클라이언트는 이 </a:t>
            </a:r>
            <a:r>
              <a:rPr lang="ko-KR" altLang="en-US" sz="3200" b="1" dirty="0" err="1">
                <a:solidFill>
                  <a:schemeClr val="tx1"/>
                </a:solidFill>
              </a:rPr>
              <a:t>청크들을</a:t>
            </a:r>
            <a:r>
              <a:rPr lang="ko-KR" altLang="en-US" sz="3200" b="1" dirty="0">
                <a:solidFill>
                  <a:schemeClr val="tx1"/>
                </a:solidFill>
              </a:rPr>
              <a:t> </a:t>
            </a:r>
            <a:r>
              <a:rPr lang="ko-KR" altLang="en-US" sz="3200" b="1" dirty="0" err="1">
                <a:solidFill>
                  <a:schemeClr val="tx1"/>
                </a:solidFill>
              </a:rPr>
              <a:t>지터</a:t>
            </a:r>
            <a:r>
              <a:rPr lang="ko-KR" altLang="en-US" sz="3200" b="1" dirty="0">
                <a:solidFill>
                  <a:schemeClr val="tx1"/>
                </a:solidFill>
              </a:rPr>
              <a:t> 버퍼에 저장해 재생 </a:t>
            </a:r>
            <a:r>
              <a:rPr lang="ko-KR" altLang="en-US" sz="3200" b="1" dirty="0" smtClean="0">
                <a:solidFill>
                  <a:schemeClr val="tx1"/>
                </a:solidFill>
              </a:rPr>
              <a:t>시점 대기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smtClean="0">
                <a:solidFill>
                  <a:schemeClr val="tx1"/>
                </a:solidFill>
              </a:rPr>
              <a:t>수신된 </a:t>
            </a:r>
            <a:r>
              <a:rPr lang="ko-KR" altLang="en-US" sz="3200" b="1" dirty="0" err="1">
                <a:solidFill>
                  <a:schemeClr val="tx1"/>
                </a:solidFill>
              </a:rPr>
              <a:t>청크의</a:t>
            </a:r>
            <a:r>
              <a:rPr lang="ko-KR" altLang="en-US" sz="3200" b="1" dirty="0">
                <a:solidFill>
                  <a:schemeClr val="tx1"/>
                </a:solidFill>
              </a:rPr>
              <a:t> 타임스탬프가 가리키는 시점에 맞춰 로컬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ALSA </a:t>
            </a:r>
            <a:r>
              <a:rPr lang="ko-KR" altLang="en-US" sz="3200" b="1" smtClean="0">
                <a:solidFill>
                  <a:schemeClr val="tx1"/>
                </a:solidFill>
              </a:rPr>
              <a:t>디바이스로 전송</a:t>
            </a:r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9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257</Words>
  <Application>Microsoft Office PowerPoint</Application>
  <PresentationFormat>사용자 지정</PresentationFormat>
  <Paragraphs>76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LG스마트체2.0 Bold</vt:lpstr>
      <vt:lpstr>LG스마트체2.0 Regular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김주현/연구원/TV Multimedia Solution팀(juhyun1224.kim@lge.com)</cp:lastModifiedBy>
  <cp:revision>35</cp:revision>
  <dcterms:created xsi:type="dcterms:W3CDTF">2022-12-09T16:47:26Z</dcterms:created>
  <dcterms:modified xsi:type="dcterms:W3CDTF">2025-07-02T12:51:02Z</dcterms:modified>
</cp:coreProperties>
</file>